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9.4801267574111378E-2"/>
          <c:y val="4.6257655293088368E-2"/>
          <c:w val="0.88581888746464832"/>
          <c:h val="0.82750267327695148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Cities — Restaurant Count (Column Chart)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New Delhi</c:v>
                </c:pt>
                <c:pt idx="1">
                  <c:v>Gurgaon</c:v>
                </c:pt>
                <c:pt idx="2">
                  <c:v>Noida</c:v>
                </c:pt>
                <c:pt idx="3">
                  <c:v>Faridabad</c:v>
                </c:pt>
                <c:pt idx="4">
                  <c:v>Ghaziabad</c:v>
                </c:pt>
                <c:pt idx="5">
                  <c:v>Guwahati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5473</c:v>
                </c:pt>
                <c:pt idx="1">
                  <c:v>1118</c:v>
                </c:pt>
                <c:pt idx="2">
                  <c:v>1080</c:v>
                </c:pt>
                <c:pt idx="3">
                  <c:v>251</c:v>
                </c:pt>
                <c:pt idx="4">
                  <c:v>25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6C-47AF-9D3C-8B09989A3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Cities — Share (Pie Chart)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New Delhi</c:v>
                </c:pt>
                <c:pt idx="1">
                  <c:v>Gurgaon</c:v>
                </c:pt>
                <c:pt idx="2">
                  <c:v>Noida</c:v>
                </c:pt>
                <c:pt idx="3">
                  <c:v>Faridabad</c:v>
                </c:pt>
                <c:pt idx="4">
                  <c:v>Ghaziabad</c:v>
                </c:pt>
                <c:pt idx="5">
                  <c:v>Guwahati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5473</c:v>
                </c:pt>
                <c:pt idx="1">
                  <c:v>1118</c:v>
                </c:pt>
                <c:pt idx="2">
                  <c:v>1080</c:v>
                </c:pt>
                <c:pt idx="3">
                  <c:v>251</c:v>
                </c:pt>
                <c:pt idx="4">
                  <c:v>25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7-4A4F-85A0-2D392BBF96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 by City (Line Chart)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Inner City</c:v>
                </c:pt>
                <c:pt idx="1">
                  <c:v>Quezon City</c:v>
                </c:pt>
                <c:pt idx="2">
                  <c:v>Makati City</c:v>
                </c:pt>
                <c:pt idx="3">
                  <c:v>Pasig City</c:v>
                </c:pt>
                <c:pt idx="4">
                  <c:v>Mandaluyong City</c:v>
                </c:pt>
                <c:pt idx="5">
                  <c:v>Beechworth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4.8</c:v>
                </c:pt>
                <c:pt idx="2">
                  <c:v>4.6500000000000004</c:v>
                </c:pt>
                <c:pt idx="3">
                  <c:v>4.6333333333333337</c:v>
                </c:pt>
                <c:pt idx="4">
                  <c:v>4.625</c:v>
                </c:pt>
                <c:pt idx="5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4B-4D69-A57E-B1A29919FA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Votes by City (Bar Chart)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New Delhi</c:v>
                </c:pt>
                <c:pt idx="1">
                  <c:v>Gurgaon</c:v>
                </c:pt>
                <c:pt idx="2">
                  <c:v>Noida</c:v>
                </c:pt>
                <c:pt idx="3">
                  <c:v>Bangalore</c:v>
                </c:pt>
                <c:pt idx="4">
                  <c:v>Kolkata</c:v>
                </c:pt>
                <c:pt idx="5">
                  <c:v>Mumbai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628340</c:v>
                </c:pt>
                <c:pt idx="1">
                  <c:v>132160</c:v>
                </c:pt>
                <c:pt idx="2">
                  <c:v>73488</c:v>
                </c:pt>
                <c:pt idx="3">
                  <c:v>56115</c:v>
                </c:pt>
                <c:pt idx="4">
                  <c:v>44593</c:v>
                </c:pt>
                <c:pt idx="5">
                  <c:v>29697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7E-48C2-B670-18F268C3F5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 by City (Area Chart)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Inner City</c:v>
                </c:pt>
                <c:pt idx="1">
                  <c:v>Quezon City</c:v>
                </c:pt>
                <c:pt idx="2">
                  <c:v>Makati City</c:v>
                </c:pt>
                <c:pt idx="3">
                  <c:v>Pasig City</c:v>
                </c:pt>
                <c:pt idx="4">
                  <c:v>Mandaluyong City</c:v>
                </c:pt>
                <c:pt idx="5">
                  <c:v>Beechworth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4.8</c:v>
                </c:pt>
                <c:pt idx="2">
                  <c:v>4.6500000000000004</c:v>
                </c:pt>
                <c:pt idx="3">
                  <c:v>4.6333333333333337</c:v>
                </c:pt>
                <c:pt idx="4">
                  <c:v>4.625</c:v>
                </c:pt>
                <c:pt idx="5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F-4080-91EC-846838CCF6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Scatter Plot — Rating vs Votes (XY Scatter)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633-42B6-9C37-E6585086FD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Zomato Restaurants Analysis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Combined presentation with every chart and a stepwise description of how data was </a:t>
            </a:r>
            <a:r>
              <a:rPr dirty="0" err="1"/>
              <a:t>prepar</a:t>
            </a:r>
            <a:r>
              <a:rPr lang="en-IN" dirty="0"/>
              <a:t>e</a:t>
            </a:r>
            <a:r>
              <a:rPr dirty="0"/>
              <a:t>d and how each chart was created.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64AD0-8396-FE9D-78B5-B1F2BEA6F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"/>
            <a:ext cx="64008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Cleaning &amp; Preprocessing —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1. Inspect raw columns and row count.</a:t>
            </a:r>
          </a:p>
          <a:p>
            <a:r>
              <a:t>2. Standardize column names (trim whitespace).</a:t>
            </a:r>
          </a:p>
          <a:p>
            <a:r>
              <a:t>3. Convert Votes to integer; coerce non-numeric to 0.</a:t>
            </a:r>
          </a:p>
          <a:p>
            <a:r>
              <a:t>4. Convert Rating to numeric and drop NA when computing averages.</a:t>
            </a:r>
          </a:p>
          <a:p>
            <a:r>
              <a:t>5. Group/aggregate by City for counts, sums, and means used in charts.</a:t>
            </a:r>
          </a:p>
          <a:p>
            <a:r>
              <a:t>6. For charts, take top-N cities (N=6) to keep visual clarity.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Top Cities — Restaurant Count (Column 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016691"/>
              </p:ext>
            </p:extLst>
          </p:nvPr>
        </p:nvGraphicFramePr>
        <p:xfrm>
          <a:off x="640080" y="1536192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Top Cities — Restaurant Count (Column Chart) — How it was made (step-by-step)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Step 1: Use 'City' column and count occurrences.</a:t>
            </a:r>
          </a:p>
          <a:p>
            <a:r>
              <a:rPr dirty="0"/>
              <a:t>Step 2: Sort cities by count descending and take top 6.</a:t>
            </a:r>
          </a:p>
          <a:p>
            <a:r>
              <a:rPr dirty="0"/>
              <a:t>Step 3: Plot counts as a clustered column chart; x=City, y=Count.</a:t>
            </a:r>
          </a:p>
          <a:p>
            <a:r>
              <a:rPr dirty="0"/>
              <a:t>Interpretation: Highest bars = cities with most restaurants in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— Share (Pie 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 Cities — Share (Pie Chart) — How it was made (step-by-step)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Step 1: Reuse counts computed for Top Cities.</a:t>
            </a:r>
          </a:p>
          <a:p>
            <a:r>
              <a:t>Step 2: Calculate percentage share per city (count / total of top-N).</a:t>
            </a:r>
          </a:p>
          <a:p>
            <a:r>
              <a:t>Step 3: Plot as pie to show relative share among top cities.</a:t>
            </a:r>
          </a:p>
          <a:p>
            <a:r>
              <a:t>Interpretation: Slices show proportion of dataset represented by each 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Rating by City (Line 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Average Rating by City (Line Chart) — How it was made (step-by-step)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Step 1: Group rows by City and compute mean(Rating).</a:t>
            </a:r>
          </a:p>
          <a:p>
            <a:r>
              <a:t>Step 2: Drop cities with missing ratings and sort by mean rating.</a:t>
            </a:r>
          </a:p>
          <a:p>
            <a:r>
              <a:t>Step 3: Take top 6 by mean rating for visual clarity.</a:t>
            </a:r>
          </a:p>
          <a:p>
            <a:r>
              <a:t>Step 4: Plot ratings on Y-axis; City on X-axis as a line with markers.</a:t>
            </a:r>
          </a:p>
          <a:p>
            <a:r>
              <a:t>Interpretation: Peaks indicate cities with higher average user rating.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Votes by City (Bar 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Votes by City (Bar Chart) — How it was made (step-by-step)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Step 1: Sum the 'Votes' column grouped by City.</a:t>
            </a:r>
          </a:p>
          <a:p>
            <a:r>
              <a:t>Step 2: Sort descending and take top 6 cities by votes.</a:t>
            </a:r>
          </a:p>
          <a:p>
            <a:r>
              <a:t>Step 3: Plot as clustered horizontal bars (Bar chart).</a:t>
            </a:r>
          </a:p>
          <a:p>
            <a:r>
              <a:t>Interpretation: Longer bars show cities with more user engagement (votes).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Rating by City (Area 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Average Rating by City (Area Chart) — How it was made (step-by-step)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Same aggregate as the line chart (mean Rating by City).</a:t>
            </a:r>
          </a:p>
          <a:p>
            <a:r>
              <a:t>Area chart emphasizes volume under the curve (visual emphasis).</a:t>
            </a:r>
          </a:p>
          <a:p>
            <a:r>
              <a:t>Good for showing trend-like comparisons across cities.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Scatter Plot — Rating vs Votes (XY Scatter)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Scatter Plot — Rating vs Votes (XY Scatter) — How it was made (step-by-step)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19656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dirty="0"/>
              <a:t>Step 1: Select rows with both Rating and Votes present.</a:t>
            </a:r>
          </a:p>
          <a:p>
            <a:r>
              <a:rPr dirty="0"/>
              <a:t>Step 2: Use Rating as X and Votes as Y for each restaurant/row.</a:t>
            </a:r>
          </a:p>
          <a:p>
            <a:r>
              <a:rPr dirty="0"/>
              <a:t>Step 3: Plot points — each point = a restaurant (rating, votes).</a:t>
            </a:r>
          </a:p>
          <a:p>
            <a:r>
              <a:rPr dirty="0"/>
              <a:t>Interpretation: Patterns show if higher-rated restaurants attract more votes.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• Add filters (date ranges, cuisines) to create interactive dashboards.</a:t>
            </a:r>
          </a:p>
          <a:p>
            <a:r>
              <a:rPr dirty="0"/>
              <a:t>• Normalize votes per city population or per restaurant to compare fairly.</a:t>
            </a:r>
          </a:p>
          <a:p>
            <a:r>
              <a:rPr dirty="0"/>
              <a:t>• Add combo charts (e.g., column + line) for richer storytelling.</a:t>
            </a:r>
          </a:p>
          <a:p>
            <a:r>
              <a:rPr dirty="0"/>
              <a:t>• Include donut, waterfall, radar charts if specific comparisons needed.</a:t>
            </a:r>
          </a:p>
          <a:p>
            <a:r>
              <a:rPr dirty="0"/>
              <a:t>• Export visuals into a single 10–15 slide PPT for presentations.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643</Words>
  <Application>Microsoft Office PowerPoint</Application>
  <PresentationFormat>On-screen Show (4:3)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Zomato Restaurants Analysis</vt:lpstr>
      <vt:lpstr>Data Cleaning &amp; Preprocessing — Steps</vt:lpstr>
      <vt:lpstr>Top Cities — Restaurant Count (Column Chart)</vt:lpstr>
      <vt:lpstr>Top Cities — Restaurant Count (Column Chart) — How it was made (step-by-step)</vt:lpstr>
      <vt:lpstr>Top Cities — Share (Pie Chart)</vt:lpstr>
      <vt:lpstr>Top Cities — Share (Pie Chart) — How it was made (step-by-step)</vt:lpstr>
      <vt:lpstr>Average Rating by City (Line Chart)</vt:lpstr>
      <vt:lpstr>Average Rating by City (Line Chart) — How it was made (step-by-step)</vt:lpstr>
      <vt:lpstr>Votes by City (Bar Chart)</vt:lpstr>
      <vt:lpstr>Votes by City (Bar Chart) — How it was made (step-by-step)</vt:lpstr>
      <vt:lpstr>Average Rating by City (Area Chart)</vt:lpstr>
      <vt:lpstr>Average Rating by City (Area Chart) — How it was made (step-by-step)</vt:lpstr>
      <vt:lpstr>Scatter Plot — Rating vs Votes (XY Scatter)</vt:lpstr>
      <vt:lpstr>Scatter Plot — Rating vs Votes (XY Scatter) — How it was made (step-by-step)</vt:lpstr>
      <vt:lpstr>Next Steps &amp; Suggestions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CHANDRA SEKHAR BERA</cp:lastModifiedBy>
  <cp:revision>3</cp:revision>
  <dcterms:created xsi:type="dcterms:W3CDTF">2013-01-27T09:14:16Z</dcterms:created>
  <dcterms:modified xsi:type="dcterms:W3CDTF">2025-11-04T15:57:55Z</dcterms:modified>
  <cp:category/>
</cp:coreProperties>
</file>